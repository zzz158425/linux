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80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93" r:id="rId22"/>
    <p:sldId id="260" r:id="rId23"/>
  </p:sldIdLst>
  <p:sldSz cx="10031413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CDCDCD"/>
    <a:srgbClr val="FF9B05"/>
    <a:srgbClr val="FCE5C4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38" autoAdjust="0"/>
  </p:normalViewPr>
  <p:slideViewPr>
    <p:cSldViewPr snapToGrid="0">
      <p:cViewPr>
        <p:scale>
          <a:sx n="75" d="100"/>
          <a:sy n="75" d="100"/>
        </p:scale>
        <p:origin x="808" y="36"/>
      </p:cViewPr>
      <p:guideLst>
        <p:guide orient="horz" pos="2160"/>
        <p:guide pos="317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28688" y="754063"/>
            <a:ext cx="4816475" cy="3294062"/>
          </a:xfrm>
          <a:prstGeom prst="rect">
            <a:avLst/>
          </a:prstGeom>
          <a:noFill/>
          <a:ln w="9525">
            <a:noFill/>
            <a:miter lim="800000"/>
          </a:ln>
        </p:spPr>
      </p:sp>
      <p:sp>
        <p:nvSpPr>
          <p:cNvPr id="4099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8163" y="4387850"/>
            <a:ext cx="5780087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 noProof="0"/>
              <a:t>单击此处编辑母版文本样式</a:t>
            </a:r>
          </a:p>
          <a:p>
            <a:pPr lvl="1"/>
            <a:r>
              <a:rPr lang="zh-CN" altLang="zh-CN" noProof="0"/>
              <a:t>第二级</a:t>
            </a:r>
          </a:p>
          <a:p>
            <a:pPr lvl="2"/>
            <a:r>
              <a:rPr lang="zh-CN" altLang="zh-CN" noProof="0"/>
              <a:t>第三级</a:t>
            </a:r>
          </a:p>
          <a:p>
            <a:pPr lvl="3"/>
            <a:r>
              <a:rPr lang="zh-CN" altLang="zh-CN" noProof="0"/>
              <a:t>第四级</a:t>
            </a:r>
          </a:p>
          <a:p>
            <a:pPr lvl="4"/>
            <a:r>
              <a:rPr lang="zh-CN" altLang="zh-CN" noProof="0"/>
              <a:t>第五级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60BA55F-39AC-40F7-9769-1DE084D88763}" type="datetimeFigureOut">
              <a:rPr lang="zh-CN" altLang="en-US"/>
              <a:t>2022/5/4</a:t>
            </a:fld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3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6800"/>
            <a:ext cx="297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46BCEA9-26AB-4B91-A876-E633D3E888F9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内连接 </a:t>
            </a:r>
            <a:br>
              <a:rPr lang="zh-CN" altLang="en-US"/>
            </a:br>
            <a:r>
              <a:rPr lang="zh-CN" altLang="en-US"/>
              <a:t>内连接查询操作列出与连接条件匹配的数据行，它使用比较运算符比较被连接列的 </a:t>
            </a:r>
            <a:br>
              <a:rPr lang="zh-CN" altLang="en-US"/>
            </a:br>
            <a:r>
              <a:rPr lang="zh-CN" altLang="en-US"/>
              <a:t>列值。内连接分三种： </a:t>
            </a:r>
            <a:br>
              <a:rPr lang="zh-CN" altLang="en-US"/>
            </a:br>
            <a:r>
              <a:rPr lang="en-US" altLang="zh-CN"/>
              <a:t>1</a:t>
            </a:r>
            <a:r>
              <a:rPr lang="zh-CN" altLang="en-US"/>
              <a:t>、等值连接：在连接条件中使用等于号</a:t>
            </a:r>
            <a:r>
              <a:rPr lang="en-US" altLang="zh-CN"/>
              <a:t>(=)</a:t>
            </a:r>
            <a:r>
              <a:rPr lang="zh-CN" altLang="en-US"/>
              <a:t>运算符比较被连接列的列值，其查询结 </a:t>
            </a:r>
            <a:br>
              <a:rPr lang="zh-CN" altLang="en-US"/>
            </a:br>
            <a:r>
              <a:rPr lang="zh-CN" altLang="en-US"/>
              <a:t>果中列出被连接表中的所有列，包括其中的重复列。 </a:t>
            </a:r>
            <a:br>
              <a:rPr lang="zh-CN" altLang="en-US"/>
            </a:br>
            <a:r>
              <a:rPr lang="zh-CN" altLang="en-US"/>
              <a:t>例，下面使用等值连接列出</a:t>
            </a:r>
            <a:r>
              <a:rPr lang="en-US" altLang="zh-CN"/>
              <a:t>authors</a:t>
            </a:r>
            <a:r>
              <a:rPr lang="zh-CN" altLang="en-US"/>
              <a:t>和</a:t>
            </a:r>
            <a:r>
              <a:rPr lang="en-US" altLang="zh-CN"/>
              <a:t>publishers</a:t>
            </a:r>
            <a:r>
              <a:rPr lang="zh-CN" altLang="en-US"/>
              <a:t>表中位于同一城市的作者和出版社： </a:t>
            </a:r>
            <a:br>
              <a:rPr lang="zh-CN" altLang="en-US"/>
            </a:br>
            <a:r>
              <a:rPr lang="en-US" altLang="zh-CN"/>
              <a:t>SELECT * </a:t>
            </a:r>
            <a:br>
              <a:rPr lang="en-US" altLang="zh-CN"/>
            </a:br>
            <a:r>
              <a:rPr lang="en-US" altLang="zh-CN"/>
              <a:t>FROM authors AS a INNER JOIN publishers AS p </a:t>
            </a:r>
            <a:br>
              <a:rPr lang="en-US" altLang="zh-CN"/>
            </a:br>
            <a:r>
              <a:rPr lang="en-US" altLang="zh-CN"/>
              <a:t>ON a.city=p.city </a:t>
            </a:r>
            <a:br>
              <a:rPr lang="en-US" altLang="zh-CN"/>
            </a:br>
            <a:r>
              <a:rPr lang="en-US" altLang="zh-CN"/>
              <a:t>2</a:t>
            </a:r>
            <a:r>
              <a:rPr lang="zh-CN" altLang="en-US"/>
              <a:t>、不等连接： 在连接条件使用除等于运算符以外的其它比较运算符比较被连接的 </a:t>
            </a:r>
            <a:br>
              <a:rPr lang="zh-CN" altLang="en-US"/>
            </a:br>
            <a:r>
              <a:rPr lang="zh-CN" altLang="en-US"/>
              <a:t>列的列值。这些运算符包括</a:t>
            </a:r>
            <a:r>
              <a:rPr lang="en-US" altLang="zh-CN"/>
              <a:t>&gt;</a:t>
            </a:r>
            <a:r>
              <a:rPr lang="zh-CN" altLang="en-US"/>
              <a:t>、</a:t>
            </a:r>
            <a:r>
              <a:rPr lang="en-US" altLang="zh-CN"/>
              <a:t>&gt;=</a:t>
            </a:r>
            <a:r>
              <a:rPr lang="zh-CN" altLang="en-US"/>
              <a:t>、</a:t>
            </a:r>
            <a:r>
              <a:rPr lang="en-US" altLang="zh-CN"/>
              <a:t>&lt;=</a:t>
            </a:r>
            <a:r>
              <a:rPr lang="zh-CN" altLang="en-US"/>
              <a:t>、</a:t>
            </a:r>
            <a:r>
              <a:rPr lang="en-US" altLang="zh-CN"/>
              <a:t>&lt;</a:t>
            </a:r>
            <a:r>
              <a:rPr lang="zh-CN" altLang="en-US"/>
              <a:t>、</a:t>
            </a:r>
            <a:r>
              <a:rPr lang="en-US" altLang="zh-CN"/>
              <a:t>!&gt;</a:t>
            </a:r>
            <a:r>
              <a:rPr lang="zh-CN" altLang="en-US"/>
              <a:t>、</a:t>
            </a:r>
            <a:r>
              <a:rPr lang="en-US" altLang="zh-CN"/>
              <a:t>!&lt;</a:t>
            </a:r>
            <a:r>
              <a:rPr lang="zh-CN" altLang="en-US"/>
              <a:t>和</a:t>
            </a:r>
            <a:r>
              <a:rPr lang="en-US" altLang="zh-CN"/>
              <a:t>&lt;&gt;</a:t>
            </a:r>
            <a:r>
              <a:rPr lang="zh-CN" altLang="en-US"/>
              <a:t>。 </a:t>
            </a:r>
            <a:br>
              <a:rPr lang="zh-CN" altLang="en-US"/>
            </a:br>
            <a:r>
              <a:rPr lang="en-US" altLang="zh-CN"/>
              <a:t>3</a:t>
            </a:r>
            <a:r>
              <a:rPr lang="zh-CN" altLang="en-US"/>
              <a:t>、自然连接：在连接条件中使用等于</a:t>
            </a:r>
            <a:r>
              <a:rPr lang="en-US" altLang="zh-CN"/>
              <a:t>(=)</a:t>
            </a:r>
            <a:r>
              <a:rPr lang="zh-CN" altLang="en-US"/>
              <a:t>运算符比较被连接列的列值，但它使用选 </a:t>
            </a:r>
            <a:br>
              <a:rPr lang="zh-CN" altLang="en-US"/>
            </a:br>
            <a:r>
              <a:rPr lang="zh-CN" altLang="en-US"/>
              <a:t>择列表指出查询结果集合中所包括的列，并删除连接表中的重复列。</a:t>
            </a:r>
          </a:p>
        </p:txBody>
      </p:sp>
      <p:sp>
        <p:nvSpPr>
          <p:cNvPr id="24580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56F9B82C-D09A-4333-B230-99A866E41E31}" type="slidenum">
              <a:rPr lang="zh-CN" altLang="en-US" sz="1200">
                <a:latin typeface="Times New Roman" panose="02020603050405020304" pitchFamily="18" charset="0"/>
              </a:rPr>
              <a:t>6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left outer join 和 right outer join 不能缺少判断条件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注意：联合查询的各子查询使用的表结构应该相同，同时两个子查询返回的列也应相同。</a:t>
            </a:r>
          </a:p>
        </p:txBody>
      </p:sp>
      <p:sp>
        <p:nvSpPr>
          <p:cNvPr id="25604" name="灯片编号占位符 3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CA498436-DCA9-4C76-8B50-48D73140019F}" type="slidenum">
              <a:rPr lang="zh-CN" altLang="en-US" sz="1200">
                <a:latin typeface="Times New Roman" panose="02020603050405020304" pitchFamily="18" charset="0"/>
              </a:rPr>
              <a:t>11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前几行   select * from pats limit 0,</a:t>
            </a:r>
            <a:r>
              <a:rPr lang="en-US" altLang="zh-CN"/>
              <a:t>3</a:t>
            </a:r>
            <a:r>
              <a:rPr lang="zh-CN" altLang="zh-CN"/>
              <a:t>;前三行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注：如果文件放在</a:t>
            </a:r>
            <a:r>
              <a:rPr lang="en-US" altLang="zh-CN"/>
              <a:t>c</a:t>
            </a:r>
            <a:r>
              <a:rPr lang="zh-CN" altLang="en-US"/>
              <a:t>盘，可能由于权限原因无法访问。更换到其他盘符再试。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16922E-49F2-440E-AB27-93D6776F6C09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注：如果文件放在</a:t>
            </a:r>
            <a:r>
              <a:rPr lang="en-US" altLang="zh-CN"/>
              <a:t>c</a:t>
            </a:r>
            <a:r>
              <a:rPr lang="zh-CN" altLang="en-US"/>
              <a:t>盘，可能由于权限原因无法访问。更换到其他盘符再试。</a:t>
            </a:r>
            <a:endParaRPr lang="en-US" altLang="zh-CN"/>
          </a:p>
          <a:p>
            <a:endParaRPr lang="en-US" altLang="zh-CN"/>
          </a:p>
        </p:txBody>
      </p:sp>
      <p:sp>
        <p:nvSpPr>
          <p:cNvPr id="266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16922E-49F2-440E-AB27-93D6776F6C09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689660" y="6356351"/>
            <a:ext cx="2695942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3E662F2-C863-455C-A64A-AE0988EA079C}" type="datetimeFigureOut">
              <a:rPr lang="zh-CN" altLang="en-US"/>
              <a:t>2022/5/4</a:t>
            </a:fld>
            <a:endParaRPr lang="zh-CN" alt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824476" y="6356351"/>
            <a:ext cx="2382461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45811" y="6356351"/>
            <a:ext cx="2695942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57C312F-A26C-470D-A5E9-C38871207CA1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5" name="Picture 12" descr="PPT-4-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6454776"/>
            <a:ext cx="10030107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 userDrawn="1"/>
        </p:nvSpPr>
        <p:spPr>
          <a:xfrm>
            <a:off x="5844114" y="6482191"/>
            <a:ext cx="5367139" cy="344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1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王道码农训练营</a:t>
            </a:r>
            <a:r>
              <a:rPr lang="en-US" altLang="zh-CN" sz="16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-WWW.CSKAOYAN.COM</a:t>
            </a:r>
          </a:p>
        </p:txBody>
      </p:sp>
      <p:pic>
        <p:nvPicPr>
          <p:cNvPr id="7" name="Picture 3" descr="PPT-4-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0504" y="955046"/>
            <a:ext cx="9314324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>
          <a:xfrm>
            <a:off x="826226" y="1585817"/>
            <a:ext cx="6896597" cy="914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4"/>
          </p:nvPr>
        </p:nvSpPr>
        <p:spPr>
          <a:xfrm>
            <a:off x="1840449" y="363577"/>
            <a:ext cx="7083214" cy="9144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 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7D9E45-1CEA-421E-94AE-77AB4636F64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2"/>
          </p:nvPr>
        </p:nvSpPr>
        <p:spPr>
          <a:xfrm>
            <a:off x="689660" y="6356351"/>
            <a:ext cx="2695942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3E662F2-C863-455C-A64A-AE0988EA079C}" type="datetimeFigureOut">
              <a:rPr lang="zh-CN" altLang="en-US"/>
              <a:t>2022/5/4</a:t>
            </a:fld>
            <a:endParaRPr lang="zh-CN" alt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3"/>
          </p:nvPr>
        </p:nvSpPr>
        <p:spPr>
          <a:xfrm>
            <a:off x="3824476" y="6356351"/>
            <a:ext cx="2382461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645811" y="6356351"/>
            <a:ext cx="2695942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57C312F-A26C-470D-A5E9-C38871207CA1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tubiao/" TargetMode="External"/><Relationship Id="rId13" Type="http://schemas.openxmlformats.org/officeDocument/2006/relationships/hyperlink" Target="http://www.1ppt.com/ziliao/" TargetMode="External"/><Relationship Id="rId18" Type="http://schemas.openxmlformats.org/officeDocument/2006/relationships/image" Target="../media/image3.png"/><Relationship Id="rId3" Type="http://schemas.openxmlformats.org/officeDocument/2006/relationships/hyperlink" Target="http://www.1ppt.com/moban/" TargetMode="External"/><Relationship Id="rId7" Type="http://schemas.openxmlformats.org/officeDocument/2006/relationships/hyperlink" Target="http://www.1ppt.com/beijing/" TargetMode="External"/><Relationship Id="rId12" Type="http://schemas.openxmlformats.org/officeDocument/2006/relationships/hyperlink" Target="http://www.1ppt.com/excel/" TargetMode="External"/><Relationship Id="rId17" Type="http://schemas.openxmlformats.org/officeDocument/2006/relationships/hyperlink" Target="http://www.1ppt.com/jiaoan/" TargetMode="External"/><Relationship Id="rId2" Type="http://schemas.openxmlformats.org/officeDocument/2006/relationships/audio" Target="../media/audio1.wav"/><Relationship Id="rId16" Type="http://schemas.openxmlformats.org/officeDocument/2006/relationships/hyperlink" Target="http://www.1ppt.com/shiti/" TargetMode="Externa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1ppt.com/sucai/" TargetMode="External"/><Relationship Id="rId11" Type="http://schemas.openxmlformats.org/officeDocument/2006/relationships/hyperlink" Target="http://www.1ppt.com/word/" TargetMode="External"/><Relationship Id="rId5" Type="http://schemas.openxmlformats.org/officeDocument/2006/relationships/hyperlink" Target="http://www.1ppt.com/jieri/" TargetMode="External"/><Relationship Id="rId15" Type="http://schemas.openxmlformats.org/officeDocument/2006/relationships/hyperlink" Target="http://www.1ppt.com/fanwen/" TargetMode="External"/><Relationship Id="rId10" Type="http://schemas.openxmlformats.org/officeDocument/2006/relationships/hyperlink" Target="http://www.1ppt.com/powerpoint/" TargetMode="External"/><Relationship Id="rId19" Type="http://schemas.openxmlformats.org/officeDocument/2006/relationships/image" Target="../media/image4.png"/><Relationship Id="rId4" Type="http://schemas.openxmlformats.org/officeDocument/2006/relationships/hyperlink" Target="http://www.1ppt.com/hangye/" TargetMode="External"/><Relationship Id="rId9" Type="http://schemas.openxmlformats.org/officeDocument/2006/relationships/hyperlink" Target="http://www.1ppt.com/xiazai/" TargetMode="External"/><Relationship Id="rId14" Type="http://schemas.openxmlformats.org/officeDocument/2006/relationships/hyperlink" Target="http://www.1ppt.com/kejian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0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9431880" y="71439"/>
            <a:ext cx="532919" cy="142875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3"/>
              </a:rPr>
              <a:t>www.1ppt.com/moban/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4"/>
              </a:rPr>
              <a:t>www.1ppt.com/hangye/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5"/>
              </a:rPr>
              <a:t>www.1ppt.com/jieri/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     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6"/>
              </a:rPr>
              <a:t>www.1ppt.com/sucai/</a:t>
            </a:r>
            <a:endParaRPr lang="en-US" altLang="zh-CN" sz="100" kern="0" dirty="0">
              <a:solidFill>
                <a:srgbClr val="EEECE1">
                  <a:lumMod val="25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7"/>
              </a:rPr>
              <a:t>www.1ppt.com/beijing/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8"/>
              </a:rPr>
              <a:t>www.1ppt.com/tubiao/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9"/>
              </a:rPr>
              <a:t>www.1ppt.com/xiazai/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  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0"/>
              </a:rPr>
              <a:t>www.1ppt.com/powerpoint/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1"/>
              </a:rPr>
              <a:t>www.1ppt.com/word/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        Excel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2"/>
              </a:rPr>
              <a:t>www.1ppt.com/excel/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3"/>
              </a:rPr>
              <a:t>www.1ppt.com/ziliao/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          PPT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4"/>
              </a:rPr>
              <a:t>www.1ppt.com/kejian/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5"/>
              </a:rPr>
              <a:t>www.1ppt.com/fanwen/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           </a:t>
            </a: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6"/>
              </a:rPr>
              <a:t>www.1ppt.com/shiti/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  <a:hlinkClick r:id="rId17"/>
              </a:rPr>
              <a:t>www.1ppt.com/jiaoan/</a:t>
            </a: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" kern="0" dirty="0">
                <a:solidFill>
                  <a:srgbClr val="EEECE1">
                    <a:lumMod val="25000"/>
                  </a:srgbClr>
                </a:solidFill>
                <a:latin typeface="Calibri" panose="020F0502020204030204"/>
                <a:ea typeface="宋体" panose="02010600030101010101" pitchFamily="2" charset="-122"/>
              </a:rPr>
              <a:t>  </a:t>
            </a:r>
            <a:endParaRPr lang="zh-CN" altLang="en-US" sz="100" kern="0" dirty="0">
              <a:solidFill>
                <a:srgbClr val="EEECE1">
                  <a:lumMod val="25000"/>
                </a:srgbClr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4339" name="Picture 3" descr="PPT-2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0" y="0"/>
            <a:ext cx="10026188" cy="257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3" name="Picture 5" descr="PPT-4"/>
          <p:cNvPicPr>
            <a:picLocks noChangeAspect="1" noChangeArrowheads="1"/>
          </p:cNvPicPr>
          <p:nvPr/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-227274" y="3863976"/>
            <a:ext cx="10019658" cy="294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5" name="Picture 7" descr="PPT-6"/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1502882" y="1808164"/>
            <a:ext cx="7654412" cy="240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2317750" y="3374390"/>
            <a:ext cx="6475095" cy="429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10000"/>
              </a:lnSpc>
              <a:defRPr/>
            </a:pPr>
            <a:r>
              <a:rPr lang="en-US" altLang="zh-CN" sz="2000" kern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2000" kern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王道码农训练营</a:t>
            </a:r>
            <a:r>
              <a:rPr lang="en-US" altLang="zh-CN" sz="2000" kern="0" dirty="0">
                <a:solidFill>
                  <a:schemeClr val="bg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-WWW.CSKAOYAN.COM</a:t>
            </a:r>
          </a:p>
        </p:txBody>
      </p:sp>
      <p:sp>
        <p:nvSpPr>
          <p:cNvPr id="12" name="矩形 11"/>
          <p:cNvSpPr/>
          <p:nvPr/>
        </p:nvSpPr>
        <p:spPr>
          <a:xfrm>
            <a:off x="2007521" y="2178686"/>
            <a:ext cx="6386051" cy="838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>
              <a:lnSpc>
                <a:spcPct val="90000"/>
              </a:lnSpc>
              <a:spcBef>
                <a:spcPct val="5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</a:pPr>
            <a:r>
              <a:rPr lang="zh-CN" altLang="en-US" sz="5400" dirty="0">
                <a:solidFill>
                  <a:schemeClr val="bg1"/>
                </a:solidFill>
                <a:sym typeface="Arial" panose="020B0604020202020204" pitchFamily="34" charset="0"/>
              </a:rPr>
              <a:t>复杂查询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 vol="19000"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u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PPT-2-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10030107" cy="187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 descr="PPT-2-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7966" y="4351338"/>
            <a:ext cx="245561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 descr="PPT-2-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7627" y="2208213"/>
            <a:ext cx="245561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 descr="PPT-2-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546" y="2738438"/>
            <a:ext cx="245561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 descr="PPT-2-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8648" y="3261699"/>
            <a:ext cx="245561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 descr="PPT-2-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8648" y="3801449"/>
            <a:ext cx="245561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19" descr="PPT-2-1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" y="6454776"/>
            <a:ext cx="10030107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内容占位符 2"/>
          <p:cNvSpPr txBox="1"/>
          <p:nvPr/>
        </p:nvSpPr>
        <p:spPr>
          <a:xfrm>
            <a:off x="1270094" y="2089438"/>
            <a:ext cx="6771204" cy="3882101"/>
          </a:xfrm>
          <a:prstGeom prst="rect">
            <a:avLst/>
          </a:prstGeom>
        </p:spPr>
        <p:txBody>
          <a:bodyPr/>
          <a:lstStyle/>
          <a:p>
            <a:pPr marL="228600" indent="-228600"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35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连接查询</a:t>
            </a:r>
            <a:endParaRPr lang="en-US" altLang="zh-CN" sz="235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35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  <a:endParaRPr lang="en-US" altLang="zh-CN" sz="235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35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联合查询</a:t>
            </a:r>
          </a:p>
          <a:p>
            <a:pPr marL="228600" indent="-228600"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35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报表查询</a:t>
            </a:r>
            <a:endParaRPr lang="en-US" altLang="zh-CN" sz="235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35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数据的备份与恢复</a:t>
            </a:r>
            <a:endParaRPr lang="en-US" altLang="zh-CN" sz="235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indent="-228600" eaLnBrk="1" hangingPunct="1">
              <a:lnSpc>
                <a:spcPct val="120000"/>
              </a:lnSpc>
              <a:spcBef>
                <a:spcPct val="30000"/>
              </a:spcBef>
              <a:defRPr/>
            </a:pPr>
            <a:r>
              <a:rPr lang="zh-CN" altLang="en-US" sz="235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数据库编程</a:t>
            </a:r>
            <a:endParaRPr lang="en-US" altLang="zh-CN" sz="235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2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defRPr/>
            </a:pPr>
            <a:endParaRPr kumimoji="0" lang="en-US" altLang="zh-CN" sz="235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16000" y="962026"/>
            <a:ext cx="5221747" cy="643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10000"/>
              </a:lnSpc>
              <a:defRPr/>
            </a:pPr>
            <a:r>
              <a:rPr lang="en-US" altLang="zh-CN" sz="35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Outline </a:t>
            </a:r>
          </a:p>
        </p:txBody>
      </p:sp>
      <p:sp>
        <p:nvSpPr>
          <p:cNvPr id="13" name="矩形 12"/>
          <p:cNvSpPr/>
          <p:nvPr/>
        </p:nvSpPr>
        <p:spPr>
          <a:xfrm>
            <a:off x="5844114" y="6482191"/>
            <a:ext cx="5367139" cy="344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1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王道码农训练营</a:t>
            </a:r>
            <a:r>
              <a:rPr lang="en-US" altLang="zh-CN" sz="16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-WWW.CSKAOYAN.COM</a:t>
            </a:r>
          </a:p>
        </p:txBody>
      </p:sp>
      <p:pic>
        <p:nvPicPr>
          <p:cNvPr id="2" name="Picture 7" descr="PPT-2-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141" y="4956493"/>
            <a:ext cx="245561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912495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/>
              <a:t>9、DQL数据查询语言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93866" y="1345567"/>
            <a:ext cx="8443106" cy="4868861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dirty="0"/>
              <a:t>连接查询：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交叉连接</a:t>
            </a:r>
            <a:r>
              <a:rPr lang="zh-CN" altLang="en-US" dirty="0"/>
              <a:t>（cross join）:不带on子句，返回连接表中所有数据行的笛卡儿积。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内连接</a:t>
            </a:r>
            <a:r>
              <a:rPr lang="zh-CN" altLang="en-US" dirty="0"/>
              <a:t>（inner join）：返回连接表中符合连接条件及查询条件的数据行。</a:t>
            </a: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外连接</a:t>
            </a:r>
            <a:r>
              <a:rPr lang="zh-CN" altLang="en-US" dirty="0"/>
              <a:t>：分为</a:t>
            </a:r>
            <a:r>
              <a:rPr lang="zh-CN" altLang="en-US" dirty="0">
                <a:solidFill>
                  <a:srgbClr val="FF0000"/>
                </a:solidFill>
              </a:rPr>
              <a:t>左外连接</a:t>
            </a:r>
            <a:r>
              <a:rPr lang="zh-CN" altLang="en-US" dirty="0"/>
              <a:t>（left out</a:t>
            </a:r>
            <a:r>
              <a:rPr lang="en-US" altLang="zh-CN" dirty="0" err="1"/>
              <a:t>er</a:t>
            </a:r>
            <a:r>
              <a:rPr lang="zh-CN" altLang="en-US" dirty="0"/>
              <a:t> join）、</a:t>
            </a:r>
            <a:r>
              <a:rPr lang="zh-CN" altLang="en-US" dirty="0">
                <a:solidFill>
                  <a:srgbClr val="FF0000"/>
                </a:solidFill>
              </a:rPr>
              <a:t>右外连接</a:t>
            </a:r>
            <a:r>
              <a:rPr lang="zh-CN" altLang="en-US" dirty="0"/>
              <a:t>（right outer join）。与内连接不同的是，外连接不仅返回连接表中符合连接条件及查询条件的数据行，也返回左表（左外连接时）或右表（右外连接时）中仅符合查询条件但</a:t>
            </a:r>
            <a:r>
              <a:rPr lang="zh-CN" altLang="en-US" dirty="0">
                <a:solidFill>
                  <a:srgbClr val="FF0000"/>
                </a:solidFill>
              </a:rPr>
              <a:t>不符合连接条件的数据行</a:t>
            </a:r>
            <a:r>
              <a:rPr lang="zh-CN" altLang="en-US" dirty="0"/>
              <a:t>。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子查询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联合查询</a:t>
            </a:r>
          </a:p>
          <a:p>
            <a:pPr eaLnBrk="1" hangingPunct="1">
              <a:lnSpc>
                <a:spcPct val="80000"/>
              </a:lnSpc>
            </a:pPr>
            <a:r>
              <a:rPr lang="zh-CN" altLang="en-US" dirty="0"/>
              <a:t>报表查询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33755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/>
              <a:t>连接查询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4695" y="1468439"/>
            <a:ext cx="8443106" cy="40989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连接查询的from子句的连接语法格式为：</a:t>
            </a:r>
            <a:endParaRPr lang="en-US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 dirty="0">
                <a:solidFill>
                  <a:srgbClr val="FF0000"/>
                </a:solidFill>
              </a:rPr>
              <a:t>Select * </a:t>
            </a:r>
            <a:r>
              <a:rPr lang="zh-CN" altLang="en-US" sz="1600" b="1" dirty="0">
                <a:solidFill>
                  <a:srgbClr val="FF0000"/>
                </a:solidFill>
              </a:rPr>
              <a:t>from TABLE1 </a:t>
            </a:r>
            <a:r>
              <a:rPr lang="zh-CN" altLang="en-US" sz="1600" b="1" dirty="0">
                <a:solidFill>
                  <a:srgbClr val="00B050"/>
                </a:solidFill>
              </a:rPr>
              <a:t>join_type </a:t>
            </a:r>
            <a:r>
              <a:rPr lang="zh-CN" altLang="en-US" sz="1600" b="1" dirty="0">
                <a:solidFill>
                  <a:srgbClr val="FF0000"/>
                </a:solidFill>
              </a:rPr>
              <a:t>TABLE2  [on (join_condition)]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 dirty="0">
                <a:solidFill>
                  <a:srgbClr val="FF0000"/>
                </a:solidFill>
              </a:rPr>
              <a:t>				             </a:t>
            </a:r>
            <a:r>
              <a:rPr lang="zh-CN" altLang="en-US" sz="1600" b="1" dirty="0">
                <a:solidFill>
                  <a:srgbClr val="FF0000"/>
                </a:solidFill>
              </a:rPr>
              <a:t> [where (query_condition)]</a:t>
            </a:r>
          </a:p>
          <a:p>
            <a:pPr eaLnBrk="1" hangingPunct="1"/>
            <a:r>
              <a:rPr lang="zh-CN" altLang="en-US" dirty="0"/>
              <a:t>其中，TABLE1和TABLE2表示参与连接操作的表，TABLE1为左表，TABLE2为右表。</a:t>
            </a:r>
            <a:r>
              <a:rPr lang="zh-CN" altLang="en-US" dirty="0">
                <a:solidFill>
                  <a:srgbClr val="FF0000"/>
                </a:solidFill>
              </a:rPr>
              <a:t>on子句设定连接条件</a:t>
            </a:r>
            <a:r>
              <a:rPr lang="zh-CN" altLang="en-US" dirty="0"/>
              <a:t>，where子句设定</a:t>
            </a:r>
            <a:r>
              <a:rPr lang="zh-CN" altLang="en-US" dirty="0">
                <a:solidFill>
                  <a:srgbClr val="FF0000"/>
                </a:solidFill>
              </a:rPr>
              <a:t>查询条件</a:t>
            </a:r>
            <a:r>
              <a:rPr lang="zh-CN" altLang="en-US" dirty="0"/>
              <a:t>，join_type表示连接类型</a:t>
            </a:r>
          </a:p>
        </p:txBody>
      </p:sp>
      <p:graphicFrame>
        <p:nvGraphicFramePr>
          <p:cNvPr id="1026" name="Object 6"/>
          <p:cNvGraphicFramePr>
            <a:graphicFrameLocks noChangeAspect="1"/>
          </p:cNvGraphicFramePr>
          <p:nvPr/>
        </p:nvGraphicFramePr>
        <p:xfrm>
          <a:off x="2551113" y="4854575"/>
          <a:ext cx="4770437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包装程序外壳对象" showAsIcon="1" r:id="rId4" imgW="1371600" imgH="523875" progId="Package">
                  <p:embed/>
                </p:oleObj>
              </mc:Choice>
              <mc:Fallback>
                <p:oleObj name="包装程序外壳对象" showAsIcon="1" r:id="rId4" imgW="1371600" imgH="523875" progId="Package">
                  <p:embed/>
                  <p:pic>
                    <p:nvPicPr>
                      <p:cNvPr id="0" name="Object 6" descr="image8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51113" y="4854575"/>
                        <a:ext cx="4770437" cy="7127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793115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/>
              <a:t>交叉连接查询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93750" y="1641475"/>
            <a:ext cx="8442960" cy="376745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交叉连接查询CUSTOMER表和ORDERS表</a:t>
            </a:r>
          </a:p>
          <a:p>
            <a:pPr eaLnBrk="1" hangingPunct="1"/>
            <a:r>
              <a:rPr lang="zh-CN" altLang="en-US" dirty="0"/>
              <a:t>SELECT * FROM customer </a:t>
            </a:r>
            <a:r>
              <a:rPr lang="zh-CN" altLang="en-US" dirty="0">
                <a:solidFill>
                  <a:srgbClr val="FF0000"/>
                </a:solidFill>
              </a:rPr>
              <a:t>CROSS JOIN</a:t>
            </a:r>
            <a:r>
              <a:rPr lang="zh-CN" altLang="en-US" dirty="0"/>
              <a:t> orders;</a:t>
            </a:r>
          </a:p>
          <a:p>
            <a:pPr eaLnBrk="1" hangingPunct="1"/>
            <a:r>
              <a:rPr lang="zh-CN" altLang="en-US" dirty="0">
                <a:sym typeface="+mn-ea"/>
              </a:rPr>
              <a:t>SELECT * FROM customer 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JOIN</a:t>
            </a:r>
            <a:r>
              <a:rPr lang="zh-CN" altLang="en-US" dirty="0">
                <a:sym typeface="+mn-ea"/>
              </a:rPr>
              <a:t> orders;</a:t>
            </a:r>
            <a:endParaRPr lang="zh-CN" altLang="en-US" dirty="0"/>
          </a:p>
          <a:p>
            <a:pPr eaLnBrk="1" hangingPunct="1"/>
            <a:r>
              <a:rPr lang="zh-CN" altLang="en-US" dirty="0"/>
              <a:t>SELECT * FROM customer,orders;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2296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/>
              <a:t>内连接查询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40715" y="1292860"/>
            <a:ext cx="8552815" cy="343217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显式内连接：使用inner join关键字，</a:t>
            </a:r>
            <a:r>
              <a:rPr lang="zh-CN" altLang="en-US" dirty="0">
                <a:solidFill>
                  <a:srgbClr val="FF0000"/>
                </a:solidFill>
              </a:rPr>
              <a:t>在on子句中设定连接条件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1800" dirty="0"/>
              <a:t>SELECT * FROM customer </a:t>
            </a:r>
            <a:r>
              <a:rPr lang="en-US" altLang="zh-CN" sz="1800" dirty="0"/>
              <a:t>as </a:t>
            </a:r>
            <a:r>
              <a:rPr lang="zh-CN" altLang="en-US" sz="1800" dirty="0"/>
              <a:t>c INNER JOIN orders </a:t>
            </a:r>
            <a:r>
              <a:rPr lang="en-US" altLang="zh-CN" sz="1800" dirty="0"/>
              <a:t>as </a:t>
            </a:r>
            <a:r>
              <a:rPr lang="zh-CN" altLang="en-US" sz="1800" dirty="0"/>
              <a:t>o ON c.id=o.customer_id;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1800" dirty="0"/>
              <a:t>SELECT * FROM customer as  c INNER JOIN orders as o ON c.id=o.customer_id;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1600" dirty="0"/>
          </a:p>
          <a:p>
            <a:pPr eaLnBrk="1" hangingPunct="1"/>
            <a:r>
              <a:rPr lang="zh-CN" altLang="en-US" dirty="0"/>
              <a:t>隐式内连接：不包含inner join关键字和on关键字，在where子句中设定连接条件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1800" dirty="0"/>
              <a:t>SELECT * FROM customer </a:t>
            </a:r>
            <a:r>
              <a:rPr lang="en-US" altLang="zh-CN" sz="1800" dirty="0"/>
              <a:t>as </a:t>
            </a:r>
            <a:r>
              <a:rPr lang="zh-CN" altLang="en-US" sz="1800" dirty="0"/>
              <a:t>c,orders </a:t>
            </a:r>
            <a:r>
              <a:rPr lang="en-US" altLang="zh-CN" sz="1800" dirty="0"/>
              <a:t>as </a:t>
            </a:r>
            <a:r>
              <a:rPr lang="zh-CN" altLang="en-US" sz="1800" dirty="0"/>
              <a:t>o WHERE c.id=o.customer_id;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13435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/>
              <a:t>左外连接查询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7645" y="1392555"/>
            <a:ext cx="9528175" cy="444627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使用left outer join关键字，在on子句中设定连接条件</a:t>
            </a:r>
          </a:p>
          <a:p>
            <a:pPr marL="0" indent="0" eaLnBrk="1" hangingPunct="1">
              <a:buNone/>
            </a:pPr>
            <a:r>
              <a:rPr lang="zh-CN" altLang="en-US" sz="1800" dirty="0"/>
              <a:t>     SELECT * FROM customer </a:t>
            </a:r>
            <a:r>
              <a:rPr lang="en-US" altLang="zh-CN" sz="1800" dirty="0"/>
              <a:t>as </a:t>
            </a:r>
            <a:r>
              <a:rPr lang="zh-CN" altLang="en-US" sz="1800" dirty="0"/>
              <a:t>c LEFT OUTER JOIN orders </a:t>
            </a:r>
            <a:r>
              <a:rPr lang="en-US" altLang="zh-CN" sz="1800" dirty="0"/>
              <a:t>as </a:t>
            </a:r>
            <a:r>
              <a:rPr lang="zh-CN" altLang="en-US" sz="1800" dirty="0"/>
              <a:t>o ON c.id=o.customer_id; </a:t>
            </a:r>
          </a:p>
          <a:p>
            <a:pPr marL="0" indent="0" eaLnBrk="1" hangingPunct="1">
              <a:buNone/>
            </a:pPr>
            <a:endParaRPr lang="zh-CN" altLang="en-US" sz="1800" dirty="0"/>
          </a:p>
          <a:p>
            <a:pPr eaLnBrk="1" hangingPunct="1"/>
            <a:r>
              <a:rPr lang="zh-CN" altLang="en-US" dirty="0">
                <a:solidFill>
                  <a:srgbClr val="FF0000"/>
                </a:solidFill>
              </a:rPr>
              <a:t>不仅包含符合c.id=o.customer_id连接条件的数据行，还包含左表中的其他数据行</a:t>
            </a:r>
          </a:p>
          <a:p>
            <a:pPr eaLnBrk="1" hangingPunct="1"/>
            <a:endParaRPr lang="zh-CN" altLang="en-US" dirty="0">
              <a:solidFill>
                <a:srgbClr val="FF0000"/>
              </a:solidFill>
            </a:endParaRPr>
          </a:p>
          <a:p>
            <a:pPr eaLnBrk="1" hangingPunct="1"/>
            <a:r>
              <a:rPr lang="zh-CN" altLang="en-US" dirty="0"/>
              <a:t>带查询条件的左外连接查询，在where子句中设定查询条件</a:t>
            </a:r>
          </a:p>
          <a:p>
            <a:pPr marL="0" indent="0" eaLnBrk="1" hangingPunct="1">
              <a:buNone/>
            </a:pPr>
            <a:r>
              <a:rPr lang="zh-CN" altLang="en-US" sz="1800" dirty="0"/>
              <a:t>     SELECT * FROM customer </a:t>
            </a:r>
            <a:r>
              <a:rPr lang="en-US" altLang="zh-CN" sz="1800" dirty="0"/>
              <a:t>as </a:t>
            </a:r>
            <a:r>
              <a:rPr lang="zh-CN" altLang="en-US" sz="1800" dirty="0"/>
              <a:t>c LEFT OUTER JOIN orders </a:t>
            </a:r>
            <a:r>
              <a:rPr lang="en-US" altLang="zh-CN" sz="1800" dirty="0"/>
              <a:t>as </a:t>
            </a:r>
            <a:r>
              <a:rPr lang="zh-CN" altLang="en-US" sz="1800" dirty="0"/>
              <a:t>o ON c.id=o.customer_id WHERE </a:t>
            </a:r>
          </a:p>
          <a:p>
            <a:pPr marL="0" indent="0" eaLnBrk="1" hangingPunct="1">
              <a:buNone/>
            </a:pPr>
            <a:r>
              <a:rPr lang="zh-CN" altLang="en-US" sz="1800" dirty="0"/>
              <a:t>    o.price&gt;250;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93445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/>
              <a:t>右外连接查询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3220" y="1226820"/>
            <a:ext cx="9218295" cy="351282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dirty="0"/>
              <a:t>使用right outer join关键字，在on子句中设定连接条件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SELECT * FROM customer c RIGHT OUTER JOIN orders o ON c.id=o.customer_id;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/>
              <a:t>不仅包含符合c.id=o.customer_id连接条件的数据行，还包含orders右表中的其他数据行</a:t>
            </a:r>
          </a:p>
          <a:p>
            <a:pPr eaLnBrk="1" hangingPunct="1">
              <a:lnSpc>
                <a:spcPct val="80000"/>
              </a:lnSpc>
            </a:pPr>
            <a:endParaRPr lang="zh-CN" altLang="en-US" sz="24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000" dirty="0"/>
              <a:t>带查询条件的右外连接查询，在where子句中设定查询条件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SELECT * FROM customer c RIGHT OUTER JOIN orders o ON c.id=o.customer_id WHERE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o.price&gt;250;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图片 99"/>
          <p:cNvPicPr/>
          <p:nvPr/>
        </p:nvPicPr>
        <p:blipFill>
          <a:blip r:embed="rId2"/>
          <a:stretch>
            <a:fillRect/>
          </a:stretch>
        </p:blipFill>
        <p:spPr>
          <a:xfrm>
            <a:off x="986790" y="1296035"/>
            <a:ext cx="7882890" cy="5063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1" name="Rectangle 2"/>
          <p:cNvSpPr>
            <a:spLocks noGrp="1" noChangeArrowheads="1"/>
          </p:cNvSpPr>
          <p:nvPr/>
        </p:nvSpPr>
        <p:spPr>
          <a:xfrm>
            <a:off x="750570" y="333375"/>
            <a:ext cx="8442960" cy="89344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/>
              <a:t>连接查询总结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2296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/>
              <a:t>子查询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60070" y="1379220"/>
            <a:ext cx="8930005" cy="325310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子查询也叫嵌套查询，是指在where子句或</a:t>
            </a:r>
            <a:r>
              <a:rPr lang="en-US" altLang="zh-CN" dirty="0"/>
              <a:t>from</a:t>
            </a:r>
            <a:r>
              <a:rPr lang="zh-CN" altLang="en-US" dirty="0"/>
              <a:t>子句中又嵌入select查询语句（一般写在</a:t>
            </a:r>
            <a:r>
              <a:rPr lang="en-US" altLang="zh-CN" dirty="0"/>
              <a:t>where</a:t>
            </a:r>
            <a:r>
              <a:rPr lang="zh-CN" altLang="en-US" dirty="0"/>
              <a:t>子句）</a:t>
            </a:r>
          </a:p>
          <a:p>
            <a:pPr eaLnBrk="1" hangingPunct="1"/>
            <a:r>
              <a:rPr lang="zh-CN" altLang="en-US" dirty="0"/>
              <a:t>练习：</a:t>
            </a:r>
          </a:p>
          <a:p>
            <a:pPr eaLnBrk="1" hangingPunct="1"/>
            <a:r>
              <a:rPr lang="zh-CN" altLang="en-US" dirty="0"/>
              <a:t>查询“郭靖”的所有订单信息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SELECT * </a:t>
            </a:r>
            <a:r>
              <a:rPr lang="zh-CN" altLang="en-US" sz="2800" dirty="0">
                <a:solidFill>
                  <a:srgbClr val="FF0000"/>
                </a:solidFill>
              </a:rPr>
              <a:t>FROM</a:t>
            </a:r>
            <a:r>
              <a:rPr lang="zh-CN" altLang="en-US" sz="2800" dirty="0"/>
              <a:t> </a:t>
            </a:r>
            <a:r>
              <a:rPr lang="zh-CN" altLang="en-US" sz="2800" b="1" dirty="0"/>
              <a:t>orders</a:t>
            </a:r>
            <a:r>
              <a:rPr lang="zh-CN" altLang="en-US" sz="2800" dirty="0"/>
              <a:t> WHERE customer_id=(SELECT id FROM customer WHERE name LIKE ‘%郭靖%');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8265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/>
              <a:t>联合查询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63220" y="1452245"/>
            <a:ext cx="9288145" cy="409892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联合查询能够合并两条查询语句的查询结果，</a:t>
            </a:r>
            <a:r>
              <a:rPr lang="zh-CN" altLang="en-US" dirty="0">
                <a:solidFill>
                  <a:srgbClr val="FF0000"/>
                </a:solidFill>
              </a:rPr>
              <a:t>去掉其中的重复数据行</a:t>
            </a:r>
            <a:r>
              <a:rPr lang="zh-CN" altLang="en-US" dirty="0"/>
              <a:t>，然后返回没有重复数据行的查询结果。联合查询使用union关键字</a:t>
            </a:r>
          </a:p>
          <a:p>
            <a:pPr eaLnBrk="1" hangingPunct="1"/>
            <a:r>
              <a:rPr lang="zh-CN" altLang="en-US" dirty="0"/>
              <a:t>SELECT * FROM orders WHERE price&gt;</a:t>
            </a:r>
            <a:r>
              <a:rPr lang="en-US" altLang="zh-CN" dirty="0"/>
              <a:t>1</a:t>
            </a:r>
            <a:r>
              <a:rPr lang="zh-CN" altLang="en-US" dirty="0"/>
              <a:t>00 UNION SELECT * FROM orders WHERE customer_id=1;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794385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/>
              <a:t>报表查询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0570" y="1379220"/>
            <a:ext cx="8811260" cy="257619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报表查询对数据行进行分组统计，其语法格式为：</a:t>
            </a:r>
          </a:p>
          <a:p>
            <a:pPr eaLnBrk="1" hangingPunct="1"/>
            <a:r>
              <a:rPr lang="zh-CN" altLang="en-US" dirty="0"/>
              <a:t> select …  from … [where…] </a:t>
            </a:r>
            <a:r>
              <a:rPr lang="zh-CN" altLang="en-US" dirty="0">
                <a:solidFill>
                  <a:srgbClr val="FF0000"/>
                </a:solidFill>
              </a:rPr>
              <a:t>[ group by </a:t>
            </a:r>
            <a:r>
              <a:rPr lang="zh-CN" altLang="en-US" dirty="0"/>
              <a:t>… [having… ]] [ order by … ] </a:t>
            </a:r>
          </a:p>
          <a:p>
            <a:pPr eaLnBrk="1" hangingPunct="1"/>
            <a:r>
              <a:rPr lang="zh-CN" altLang="en-US" dirty="0"/>
              <a:t>其中group by 子句指定按照哪些字段分组，having子句设定分组查询条件。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/>
              <a:t>在报表查询中可以使用SQL函数。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 idx="4294967295"/>
          </p:nvPr>
        </p:nvSpPr>
        <p:spPr>
          <a:xfrm>
            <a:off x="750570" y="333375"/>
            <a:ext cx="8442960" cy="80391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zh-CN" altLang="en-US" dirty="0"/>
              <a:t>常用统计函数</a:t>
            </a:r>
          </a:p>
        </p:txBody>
      </p:sp>
      <p:sp>
        <p:nvSpPr>
          <p:cNvPr id="21507" name="内容占位符 2"/>
          <p:cNvSpPr>
            <a:spLocks noGrp="1"/>
          </p:cNvSpPr>
          <p:nvPr>
            <p:ph idx="4294967295"/>
          </p:nvPr>
        </p:nvSpPr>
        <p:spPr>
          <a:xfrm>
            <a:off x="794385" y="1379855"/>
            <a:ext cx="8442960" cy="3114040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count()   </a:t>
            </a:r>
            <a:r>
              <a:rPr lang="zh-CN" altLang="en-US" dirty="0"/>
              <a:t>计数  </a:t>
            </a:r>
            <a:endParaRPr lang="en-US" altLang="zh-CN" dirty="0"/>
          </a:p>
          <a:p>
            <a:r>
              <a:rPr lang="en-US" altLang="zh-CN" dirty="0"/>
              <a:t>sum()  </a:t>
            </a:r>
            <a:r>
              <a:rPr lang="zh-CN" altLang="en-US" dirty="0"/>
              <a:t>求和   </a:t>
            </a:r>
            <a:endParaRPr lang="en-US" altLang="zh-CN" dirty="0"/>
          </a:p>
          <a:p>
            <a:r>
              <a:rPr lang="en-US" altLang="zh-CN" dirty="0"/>
              <a:t>avg()   </a:t>
            </a:r>
            <a:r>
              <a:rPr lang="zh-CN" altLang="en-US" dirty="0"/>
              <a:t>求平均值</a:t>
            </a:r>
            <a:endParaRPr lang="en-US" altLang="zh-CN" dirty="0"/>
          </a:p>
          <a:p>
            <a:r>
              <a:rPr lang="en-US" altLang="zh-CN" dirty="0"/>
              <a:t>max()  </a:t>
            </a:r>
            <a:r>
              <a:rPr lang="zh-CN" altLang="en-US" dirty="0"/>
              <a:t>最大值</a:t>
            </a:r>
            <a:endParaRPr lang="en-US" altLang="zh-CN" dirty="0"/>
          </a:p>
          <a:p>
            <a:r>
              <a:rPr lang="en-US" altLang="zh-CN" dirty="0"/>
              <a:t>min()  </a:t>
            </a:r>
            <a:r>
              <a:rPr lang="zh-CN" altLang="en-US" dirty="0">
                <a:sym typeface="+mn-ea"/>
              </a:rPr>
              <a:t>最小值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21508" name="页脚占位符 3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0391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合计函数－count</a:t>
            </a:r>
          </a:p>
        </p:txBody>
      </p:sp>
      <p:sp>
        <p:nvSpPr>
          <p:cNvPr id="20484" name="Rectangle 3"/>
          <p:cNvSpPr>
            <a:spLocks noChangeArrowheads="1"/>
          </p:cNvSpPr>
          <p:nvPr/>
        </p:nvSpPr>
        <p:spPr bwMode="auto">
          <a:xfrm>
            <a:off x="750615" y="2889250"/>
            <a:ext cx="8373443" cy="1079500"/>
          </a:xfrm>
          <a:prstGeom prst="rect">
            <a:avLst/>
          </a:prstGeom>
          <a:solidFill>
            <a:srgbClr val="FFFFCC"/>
          </a:solidFill>
          <a:ln w="25400" cmpd="sng">
            <a:solidFill>
              <a:srgbClr val="000000"/>
            </a:solidFill>
            <a:miter lim="800000"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Select count(*)|count(列名) from tablename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		[WHERE </a:t>
            </a:r>
            <a:r>
              <a:rPr lang="zh-CN" altLang="en-US" b="1" i="1" dirty="0">
                <a:latin typeface="Courier New" panose="02070309020205020404" pitchFamily="49" charset="0"/>
              </a:rPr>
              <a:t>where_definition</a:t>
            </a:r>
            <a:r>
              <a:rPr lang="zh-CN" altLang="en-US" b="1" dirty="0">
                <a:latin typeface="Courier New" panose="02070309020205020404" pitchFamily="49" charset="0"/>
              </a:rPr>
              <a:t>]  </a:t>
            </a: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2054" name="Text Box 4"/>
          <p:cNvSpPr txBox="1">
            <a:spLocks noChangeArrowheads="1"/>
          </p:cNvSpPr>
          <p:nvPr/>
        </p:nvSpPr>
        <p:spPr bwMode="auto">
          <a:xfrm>
            <a:off x="670503" y="4293553"/>
            <a:ext cx="8735689" cy="1555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练习：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统计一个班级共有多少学生？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统计数学成绩大于90的学生有多少个？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统计总分大于250的人数有多少？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>
              <a:latin typeface="Courier New" panose="02070309020205020404" pitchFamily="49" charset="0"/>
            </a:endParaRPr>
          </a:p>
        </p:txBody>
      </p:sp>
      <p:sp>
        <p:nvSpPr>
          <p:cNvPr id="2055" name="Text Box 5"/>
          <p:cNvSpPr txBox="1">
            <a:spLocks noChangeArrowheads="1"/>
          </p:cNvSpPr>
          <p:nvPr/>
        </p:nvSpPr>
        <p:spPr bwMode="auto">
          <a:xfrm>
            <a:off x="670503" y="2388871"/>
            <a:ext cx="8373443" cy="339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1800"/>
              <a:t>Count(列名)返回某一列，行的总数（有多少条记录）</a:t>
            </a:r>
          </a:p>
        </p:txBody>
      </p:sp>
      <p:graphicFrame>
        <p:nvGraphicFramePr>
          <p:cNvPr id="2050" name="Object 6"/>
          <p:cNvGraphicFramePr>
            <a:graphicFrameLocks noChangeAspect="1"/>
          </p:cNvGraphicFramePr>
          <p:nvPr/>
        </p:nvGraphicFramePr>
        <p:xfrm>
          <a:off x="4084983" y="1203643"/>
          <a:ext cx="1544768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包装程序外壳对象" showAsIcon="1" r:id="rId3" imgW="762000" imgH="523875" progId="Package">
                  <p:embed/>
                </p:oleObj>
              </mc:Choice>
              <mc:Fallback>
                <p:oleObj name="包装程序外壳对象" showAsIcon="1" r:id="rId3" imgW="762000" imgH="523875" progId="Package">
                  <p:embed/>
                  <p:pic>
                    <p:nvPicPr>
                      <p:cNvPr id="0" name="Object 6" descr="image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84983" y="1203643"/>
                        <a:ext cx="1544768" cy="9858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748665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合计函数－SUM</a:t>
            </a:r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670560" y="2320290"/>
            <a:ext cx="8453755" cy="1079500"/>
          </a:xfrm>
          <a:prstGeom prst="rect">
            <a:avLst/>
          </a:prstGeom>
          <a:solidFill>
            <a:srgbClr val="FFFFCC"/>
          </a:solidFill>
          <a:ln w="25400" cmpd="sng">
            <a:solidFill>
              <a:srgbClr val="000000"/>
            </a:solidFill>
            <a:miter lim="800000"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Select sum(列名)｛</a:t>
            </a:r>
            <a:r>
              <a:rPr lang="zh-CN" altLang="en-US" sz="1800" i="1" dirty="0">
                <a:solidFill>
                  <a:srgbClr val="FF0000"/>
                </a:solidFill>
                <a:latin typeface="Courier New" panose="02070309020205020404" pitchFamily="49" charset="0"/>
              </a:rPr>
              <a:t>,</a:t>
            </a: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sum(列名)…｝ from tablename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		[WHERE </a:t>
            </a:r>
            <a:r>
              <a:rPr lang="zh-CN" altLang="en-US" b="1" i="1" dirty="0">
                <a:latin typeface="Courier New" panose="02070309020205020404" pitchFamily="49" charset="0"/>
              </a:rPr>
              <a:t>where_definition</a:t>
            </a:r>
            <a:r>
              <a:rPr lang="zh-CN" altLang="en-US" b="1" dirty="0">
                <a:latin typeface="Courier New" panose="02070309020205020404" pitchFamily="49" charset="0"/>
              </a:rPr>
              <a:t>]  </a:t>
            </a: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3078" name="Text Box 4"/>
          <p:cNvSpPr txBox="1">
            <a:spLocks noChangeArrowheads="1"/>
          </p:cNvSpPr>
          <p:nvPr/>
        </p:nvSpPr>
        <p:spPr bwMode="auto">
          <a:xfrm>
            <a:off x="638810" y="3667760"/>
            <a:ext cx="8665845" cy="24676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练习：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统计一个班级数学总成绩？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统计一个班级语文、英语、数学各科的总成绩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/>
              <a:t>统计一个班级语文、英语、数学的成绩总和</a:t>
            </a:r>
            <a:endParaRPr lang="zh-CN" altLang="en-US">
              <a:latin typeface="Courier New" panose="02070309020205020404" pitchFamily="49" charset="0"/>
            </a:endParaRP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统计一个班级语文成绩平均分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>
                <a:latin typeface="Courier New" panose="02070309020205020404" pitchFamily="49" charset="0"/>
              </a:rPr>
              <a:t>注意：sum仅对数值起作用，否则会报错。</a:t>
            </a:r>
          </a:p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/>
              <a:t>注意：对多列求和，“，”号不能少。</a:t>
            </a:r>
            <a:endParaRPr lang="zh-CN" altLang="en-US">
              <a:latin typeface="Courier New" panose="02070309020205020404" pitchFamily="49" charset="0"/>
            </a:endParaRP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>
              <a:latin typeface="Courier New" panose="02070309020205020404" pitchFamily="49" charset="0"/>
            </a:endParaRPr>
          </a:p>
        </p:txBody>
      </p:sp>
      <p:sp>
        <p:nvSpPr>
          <p:cNvPr id="3079" name="Text Box 5"/>
          <p:cNvSpPr txBox="1">
            <a:spLocks noChangeArrowheads="1"/>
          </p:cNvSpPr>
          <p:nvPr/>
        </p:nvSpPr>
        <p:spPr bwMode="auto">
          <a:xfrm>
            <a:off x="591185" y="1602740"/>
            <a:ext cx="5875655" cy="423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/>
              <a:t>Sum函数返回满足where条件的行的和</a:t>
            </a:r>
          </a:p>
        </p:txBody>
      </p:sp>
      <p:graphicFrame>
        <p:nvGraphicFramePr>
          <p:cNvPr id="3074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6955688" y="1160463"/>
          <a:ext cx="1543026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包装程序外壳对象" showAsIcon="1" r:id="rId3" imgW="762000" imgH="523875" progId="Package">
                  <p:embed/>
                </p:oleObj>
              </mc:Choice>
              <mc:Fallback>
                <p:oleObj name="包装程序外壳对象" showAsIcon="1" r:id="rId3" imgW="762000" imgH="523875" progId="Package">
                  <p:embed/>
                  <p:pic>
                    <p:nvPicPr>
                      <p:cNvPr id="0" name="Object 6" descr="image10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55688" y="1160463"/>
                        <a:ext cx="1543026" cy="989012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0391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合计函数－AVG</a:t>
            </a:r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750615" y="2300605"/>
            <a:ext cx="8373443" cy="1079500"/>
          </a:xfrm>
          <a:prstGeom prst="rect">
            <a:avLst/>
          </a:prstGeom>
          <a:solidFill>
            <a:srgbClr val="FFFFCC"/>
          </a:solidFill>
          <a:ln w="25400" cmpd="sng">
            <a:solidFill>
              <a:srgbClr val="000000"/>
            </a:solidFill>
            <a:miter lim="800000"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Select </a:t>
            </a:r>
            <a:r>
              <a:rPr lang="en-US" altLang="zh-CN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avg</a:t>
            </a:r>
            <a:r>
              <a:rPr lang="zh-CN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(列名)｛</a:t>
            </a:r>
            <a:r>
              <a:rPr lang="zh-CN" altLang="en-US" sz="1800" i="1">
                <a:solidFill>
                  <a:srgbClr val="FF0000"/>
                </a:solidFill>
                <a:latin typeface="Courier New" panose="02070309020205020404" pitchFamily="49" charset="0"/>
              </a:rPr>
              <a:t>,</a:t>
            </a:r>
            <a:r>
              <a:rPr lang="en-US" altLang="zh-CN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avg</a:t>
            </a:r>
            <a:r>
              <a:rPr lang="zh-CN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(列名)…｝ from tablename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b="1">
                <a:latin typeface="Courier New" panose="02070309020205020404" pitchFamily="49" charset="0"/>
              </a:rPr>
              <a:t>		[WHERE </a:t>
            </a:r>
            <a:r>
              <a:rPr lang="zh-CN" altLang="en-US" b="1" i="1">
                <a:latin typeface="Courier New" panose="02070309020205020404" pitchFamily="49" charset="0"/>
              </a:rPr>
              <a:t>where_definition</a:t>
            </a:r>
            <a:r>
              <a:rPr lang="zh-CN" altLang="en-US" b="1">
                <a:latin typeface="Courier New" panose="02070309020205020404" pitchFamily="49" charset="0"/>
              </a:rPr>
              <a:t>]  </a:t>
            </a:r>
            <a:r>
              <a:rPr lang="zh-CN" altLang="en-US" sz="1800" b="1" i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102" name="Text Box 4"/>
          <p:cNvSpPr txBox="1">
            <a:spLocks noChangeArrowheads="1"/>
          </p:cNvSpPr>
          <p:nvPr/>
        </p:nvSpPr>
        <p:spPr bwMode="auto">
          <a:xfrm>
            <a:off x="750513" y="3756343"/>
            <a:ext cx="8735689" cy="12557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Courier New" panose="02070309020205020404" pitchFamily="49" charset="0"/>
              </a:rPr>
              <a:t>练习：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Courier New" panose="02070309020205020404" pitchFamily="49" charset="0"/>
              </a:rPr>
              <a:t>求一个班级数学平均分？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Courier New" panose="02070309020205020404" pitchFamily="49" charset="0"/>
              </a:rPr>
              <a:t>求一个班级总分平均分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endParaRPr lang="zh-CN" altLang="en-US" dirty="0">
              <a:latin typeface="Courier New" panose="02070309020205020404" pitchFamily="49" charset="0"/>
            </a:endParaRPr>
          </a:p>
        </p:txBody>
      </p:sp>
      <p:sp>
        <p:nvSpPr>
          <p:cNvPr id="4103" name="Text Box 5"/>
          <p:cNvSpPr txBox="1">
            <a:spLocks noChangeArrowheads="1"/>
          </p:cNvSpPr>
          <p:nvPr/>
        </p:nvSpPr>
        <p:spPr bwMode="auto">
          <a:xfrm>
            <a:off x="670560" y="1506855"/>
            <a:ext cx="6601460" cy="423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/>
              <a:t>AVG函数返回满足where条件的一列的平均值</a:t>
            </a:r>
          </a:p>
        </p:txBody>
      </p:sp>
      <p:graphicFrame>
        <p:nvGraphicFramePr>
          <p:cNvPr id="4098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7789651" y="1376364"/>
          <a:ext cx="867299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r:id="rId3" imgW="1041400" imgH="723900" progId="Package">
                  <p:embed/>
                </p:oleObj>
              </mc:Choice>
              <mc:Fallback>
                <p:oleObj r:id="rId3" imgW="1041400" imgH="723900" progId="Package">
                  <p:embed/>
                  <p:pic>
                    <p:nvPicPr>
                      <p:cNvPr id="0" name="Object 6" descr="image1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89651" y="1376364"/>
                        <a:ext cx="867299" cy="554037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78359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>
                <a:latin typeface="楷体_GB2312" pitchFamily="1" charset="-122"/>
                <a:ea typeface="楷体_GB2312" pitchFamily="1" charset="-122"/>
              </a:rPr>
              <a:t>合计函数－MAX/MIN</a:t>
            </a: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647745" y="2349500"/>
            <a:ext cx="8373443" cy="1079500"/>
          </a:xfrm>
          <a:prstGeom prst="rect">
            <a:avLst/>
          </a:prstGeom>
          <a:solidFill>
            <a:srgbClr val="FFFFCC"/>
          </a:solidFill>
          <a:ln w="25400" cmpd="sng">
            <a:solidFill>
              <a:srgbClr val="000000"/>
            </a:solidFill>
            <a:miter lim="800000"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Select max(列名)　from tablename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b="1" dirty="0">
                <a:latin typeface="Courier New" panose="02070309020205020404" pitchFamily="49" charset="0"/>
              </a:rPr>
              <a:t>		[WHERE </a:t>
            </a:r>
            <a:r>
              <a:rPr lang="zh-CN" altLang="en-US" b="1" i="1" dirty="0">
                <a:latin typeface="Courier New" panose="02070309020205020404" pitchFamily="49" charset="0"/>
              </a:rPr>
              <a:t>where_definition</a:t>
            </a:r>
            <a:r>
              <a:rPr lang="zh-CN" altLang="en-US" b="1" dirty="0">
                <a:latin typeface="Courier New" panose="02070309020205020404" pitchFamily="49" charset="0"/>
              </a:rPr>
              <a:t>]  </a:t>
            </a: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126" name="Text Box 4"/>
          <p:cNvSpPr txBox="1">
            <a:spLocks noChangeArrowheads="1"/>
          </p:cNvSpPr>
          <p:nvPr/>
        </p:nvSpPr>
        <p:spPr bwMode="auto">
          <a:xfrm>
            <a:off x="647643" y="3706814"/>
            <a:ext cx="8735689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>
                <a:latin typeface="Courier New" panose="02070309020205020404" pitchFamily="49" charset="0"/>
              </a:rPr>
              <a:t>练习：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>
                <a:latin typeface="Courier New" panose="02070309020205020404" pitchFamily="49" charset="0"/>
              </a:rPr>
              <a:t>求班级最高分和最低分（数值范围在统计中特别有用）</a:t>
            </a:r>
          </a:p>
        </p:txBody>
      </p:sp>
      <p:sp>
        <p:nvSpPr>
          <p:cNvPr id="5127" name="Text Box 5"/>
          <p:cNvSpPr txBox="1">
            <a:spLocks noChangeArrowheads="1"/>
          </p:cNvSpPr>
          <p:nvPr/>
        </p:nvSpPr>
        <p:spPr bwMode="auto">
          <a:xfrm>
            <a:off x="490855" y="1737360"/>
            <a:ext cx="7835265" cy="423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/>
              <a:t>Max/min函数返回满足where条件的一列的最大/最小值</a:t>
            </a:r>
          </a:p>
        </p:txBody>
      </p:sp>
      <p:graphicFrame>
        <p:nvGraphicFramePr>
          <p:cNvPr id="5122" name="Object 6"/>
          <p:cNvGraphicFramePr>
            <a:graphicFrameLocks noGrp="1" noChangeAspect="1"/>
          </p:cNvGraphicFramePr>
          <p:nvPr>
            <p:ph idx="4294967295"/>
          </p:nvPr>
        </p:nvGraphicFramePr>
        <p:xfrm>
          <a:off x="8086831" y="1116649"/>
          <a:ext cx="867299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r:id="rId3" imgW="711835" imgH="480060" progId="Package">
                  <p:embed/>
                </p:oleObj>
              </mc:Choice>
              <mc:Fallback>
                <p:oleObj r:id="rId3" imgW="711835" imgH="480060" progId="Package">
                  <p:embed/>
                  <p:pic>
                    <p:nvPicPr>
                      <p:cNvPr id="0" name="Object 6" descr="image1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086831" y="1116649"/>
                        <a:ext cx="867299" cy="46672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78359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>
                <a:latin typeface="楷体_GB2312" pitchFamily="1" charset="-122"/>
                <a:ea typeface="楷体_GB2312" pitchFamily="1" charset="-122"/>
              </a:rPr>
              <a:t>Select语句(6)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541065" y="2244726"/>
            <a:ext cx="8373443" cy="720725"/>
          </a:xfrm>
          <a:prstGeom prst="rect">
            <a:avLst/>
          </a:prstGeom>
          <a:solidFill>
            <a:srgbClr val="FFFFCC"/>
          </a:solidFill>
          <a:ln w="25400" cmpd="sng">
            <a:solidFill>
              <a:srgbClr val="000000"/>
            </a:solidFill>
            <a:miter lim="800000"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SELECT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2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.. FROM	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zh-CN" altLang="en-US" sz="1800" b="1" i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		group by column </a:t>
            </a:r>
          </a:p>
        </p:txBody>
      </p:sp>
      <p:sp>
        <p:nvSpPr>
          <p:cNvPr id="6150" name="Text Box 4"/>
          <p:cNvSpPr txBox="1">
            <a:spLocks noChangeArrowheads="1"/>
          </p:cNvSpPr>
          <p:nvPr/>
        </p:nvSpPr>
        <p:spPr bwMode="auto">
          <a:xfrm>
            <a:off x="457778" y="3258186"/>
            <a:ext cx="8735689" cy="3416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>
                <a:latin typeface="Courier New" panose="02070309020205020404" pitchFamily="49" charset="0"/>
              </a:rPr>
              <a:t>练习：对订单表中商品归类后，显示每一类商品的总价</a:t>
            </a:r>
          </a:p>
        </p:txBody>
      </p:sp>
      <p:sp>
        <p:nvSpPr>
          <p:cNvPr id="6151" name="Text Box 5"/>
          <p:cNvSpPr txBox="1">
            <a:spLocks noChangeArrowheads="1"/>
          </p:cNvSpPr>
          <p:nvPr/>
        </p:nvSpPr>
        <p:spPr bwMode="auto">
          <a:xfrm>
            <a:off x="541020" y="1443990"/>
            <a:ext cx="5259070" cy="4235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/>
              <a:t>使用group by 子句对列进行分组</a:t>
            </a:r>
          </a:p>
        </p:txBody>
      </p:sp>
      <p:sp>
        <p:nvSpPr>
          <p:cNvPr id="24583" name="Rectangle 6"/>
          <p:cNvSpPr>
            <a:spLocks noChangeArrowheads="1"/>
          </p:cNvSpPr>
          <p:nvPr/>
        </p:nvSpPr>
        <p:spPr bwMode="auto">
          <a:xfrm>
            <a:off x="541330" y="4235450"/>
            <a:ext cx="8373443" cy="1079500"/>
          </a:xfrm>
          <a:prstGeom prst="rect">
            <a:avLst/>
          </a:prstGeom>
          <a:solidFill>
            <a:srgbClr val="FFFFCC"/>
          </a:solidFill>
          <a:ln w="25400" cmpd="sng">
            <a:solidFill>
              <a:srgbClr val="000000"/>
            </a:solidFill>
            <a:miter lim="800000"/>
          </a:ln>
          <a:effectLst>
            <a:outerShdw dist="89803" dir="2700000" algn="ctr" rotWithShape="0">
              <a:srgbClr val="000000"/>
            </a:outerShdw>
          </a:effectLst>
        </p:spPr>
        <p:txBody>
          <a:bodyPr wrap="none" lIns="92075" tIns="46038" rIns="92075" bIns="46038" anchor="ctr"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SELECT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2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column</a:t>
            </a: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..</a:t>
            </a: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sz="1800" b="1" dirty="0">
                <a:solidFill>
                  <a:srgbClr val="000000"/>
                </a:solidFill>
                <a:latin typeface="Courier New" panose="02070309020205020404" pitchFamily="49" charset="0"/>
              </a:rPr>
              <a:t>FROM	</a:t>
            </a:r>
            <a:r>
              <a:rPr 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table</a:t>
            </a:r>
            <a:endParaRPr lang="zh-CN" altLang="en-US" sz="1800" b="1" i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None/>
              <a:tabLst>
                <a:tab pos="1200150" algn="l"/>
              </a:tabLst>
              <a:defRPr/>
            </a:pPr>
            <a:r>
              <a:rPr lang="zh-CN" altLang="en-US" sz="1800" b="1" i="1" dirty="0">
                <a:solidFill>
                  <a:srgbClr val="000000"/>
                </a:solidFill>
                <a:latin typeface="Courier New" panose="02070309020205020404" pitchFamily="49" charset="0"/>
              </a:rPr>
              <a:t>		group by column having ...</a:t>
            </a:r>
          </a:p>
        </p:txBody>
      </p:sp>
      <p:sp>
        <p:nvSpPr>
          <p:cNvPr id="6153" name="Text Box 7"/>
          <p:cNvSpPr txBox="1">
            <a:spLocks noChangeArrowheads="1"/>
          </p:cNvSpPr>
          <p:nvPr/>
        </p:nvSpPr>
        <p:spPr bwMode="auto">
          <a:xfrm>
            <a:off x="457778" y="3735705"/>
            <a:ext cx="8373443" cy="4206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400" dirty="0"/>
              <a:t>使用having 子句过滤</a:t>
            </a:r>
          </a:p>
        </p:txBody>
      </p:sp>
      <p:graphicFrame>
        <p:nvGraphicFramePr>
          <p:cNvPr id="6146" name="Object 8"/>
          <p:cNvGraphicFramePr>
            <a:graphicFrameLocks noGrp="1" noChangeAspect="1"/>
          </p:cNvGraphicFramePr>
          <p:nvPr>
            <p:ph idx="4294967295"/>
          </p:nvPr>
        </p:nvGraphicFramePr>
        <p:xfrm>
          <a:off x="6854825" y="1001395"/>
          <a:ext cx="145923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6" name="包装程序外壳对象" showAsIcon="1" r:id="rId3" imgW="523875" imgH="523875" progId="Package">
                  <p:embed/>
                </p:oleObj>
              </mc:Choice>
              <mc:Fallback>
                <p:oleObj name="包装程序外壳对象" showAsIcon="1" r:id="rId3" imgW="523875" imgH="523875" progId="Package">
                  <p:embed/>
                  <p:pic>
                    <p:nvPicPr>
                      <p:cNvPr id="0" name="Object 8" descr="image1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4825" y="1001395"/>
                        <a:ext cx="1459230" cy="984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Text Box 9"/>
          <p:cNvSpPr txBox="1">
            <a:spLocks noChangeArrowheads="1"/>
          </p:cNvSpPr>
          <p:nvPr/>
        </p:nvSpPr>
        <p:spPr bwMode="auto">
          <a:xfrm>
            <a:off x="457778" y="5507038"/>
            <a:ext cx="8735689" cy="3416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Courier New" panose="02070309020205020404" pitchFamily="49" charset="0"/>
              </a:rPr>
              <a:t>练习：</a:t>
            </a:r>
            <a:r>
              <a:rPr lang="zh-CN" altLang="en-US" dirty="0"/>
              <a:t>查询购买了几类商品，并且每类总价大于100的商品</a:t>
            </a:r>
          </a:p>
        </p:txBody>
      </p:sp>
      <p:sp>
        <p:nvSpPr>
          <p:cNvPr id="6155" name="Text Box 10"/>
          <p:cNvSpPr txBox="1">
            <a:spLocks noChangeArrowheads="1"/>
          </p:cNvSpPr>
          <p:nvPr/>
        </p:nvSpPr>
        <p:spPr bwMode="auto">
          <a:xfrm>
            <a:off x="540963" y="5949950"/>
            <a:ext cx="8735689" cy="533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1600" b="1" dirty="0">
                <a:latin typeface="Courier New" panose="02070309020205020404" pitchFamily="49" charset="0"/>
              </a:rPr>
              <a:t>Having和where均可实现过滤，但在having可以使用合计函数,having通常跟在group by后，它作用于组。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8265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/>
              <a:t>10、数据的备份与恢复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42925" y="1216025"/>
            <a:ext cx="9187815" cy="5346700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数据库备份： cmd命令下</a:t>
            </a:r>
          </a:p>
          <a:p>
            <a:pPr eaLnBrk="1" hangingPunct="1"/>
            <a:r>
              <a:rPr lang="zh-CN" altLang="en-US" dirty="0"/>
              <a:t>mysqldump -u root -p test&gt;test.sql</a:t>
            </a:r>
          </a:p>
          <a:p>
            <a:pPr eaLnBrk="1" hangingPunct="1"/>
            <a:r>
              <a:rPr lang="zh-CN" altLang="en-US" dirty="0"/>
              <a:t>数据库恢复：</a:t>
            </a: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创建数据库</a:t>
            </a:r>
            <a:r>
              <a:rPr lang="zh-CN" altLang="en-US" dirty="0"/>
              <a:t>并选择该数据库</a:t>
            </a:r>
          </a:p>
          <a:p>
            <a:pPr lvl="1" eaLnBrk="1" hangingPunct="1"/>
            <a:r>
              <a:rPr lang="zh-CN" altLang="en-US" dirty="0"/>
              <a:t>在cmd命令下：mysql -u root -p test&lt;test.sql</a:t>
            </a:r>
          </a:p>
          <a:p>
            <a:pPr lvl="1" eaLnBrk="1" hangingPunct="1"/>
            <a:r>
              <a:rPr lang="zh-CN" altLang="en-US" dirty="0"/>
              <a:t>或者：</a:t>
            </a:r>
            <a:endParaRPr lang="en-US" dirty="0"/>
          </a:p>
          <a:p>
            <a:pPr lvl="1" eaLnBrk="1" hangingPunct="1"/>
            <a:r>
              <a:rPr lang="zh-CN" altLang="en-US" dirty="0"/>
              <a:t>在mysql &gt;命令行下 执行  SOURCE 数据库文件</a:t>
            </a:r>
          </a:p>
          <a:p>
            <a:pPr lvl="1" eaLnBrk="1" hangingPunct="1"/>
            <a:endParaRPr lang="zh-CN" altLang="en-US" dirty="0"/>
          </a:p>
          <a:p>
            <a:pPr marL="228600" lvl="0" indent="-228600"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  <a:sym typeface="+mn-ea"/>
              </a:rPr>
              <a:t>备份原理：</a:t>
            </a:r>
            <a:r>
              <a:rPr lang="en-US" altLang="zh-CN" dirty="0">
                <a:sym typeface="+mn-ea"/>
              </a:rPr>
              <a:t>insert</a:t>
            </a:r>
          </a:p>
          <a:p>
            <a:pPr marL="685800" lvl="1" indent="-228600" eaLnBrk="1" hangingPunct="1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/>
                </a:solidFill>
              </a:rPr>
              <a:t>通过协议连接到 MySQL数据库，将需要备份的数据查询出来并转换成对应的insert语句，当我们需要还原这些数据时，只要执行这些 insert 语句，即可将对应的数据还原</a:t>
            </a:r>
          </a:p>
          <a:p>
            <a:pPr lvl="1" eaLnBrk="1" hangingPunct="1"/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脚占位符 4"/>
          <p:cNvSpPr txBox="1">
            <a:spLocks noGrp="1" noChangeArrowheads="1"/>
          </p:cNvSpPr>
          <p:nvPr/>
        </p:nvSpPr>
        <p:spPr bwMode="auto">
          <a:xfrm>
            <a:off x="3678185" y="6403975"/>
            <a:ext cx="3176614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zh-CN" altLang="en-US" sz="1400"/>
              <a:t>  </a:t>
            </a: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0570" y="333375"/>
            <a:ext cx="8442960" cy="882650"/>
          </a:xfrm>
          <a:prstGeom prst="rect">
            <a:avLst/>
          </a:prstGeom>
        </p:spPr>
        <p:txBody>
          <a:bodyPr/>
          <a:lstStyle/>
          <a:p>
            <a:pPr algn="ctr" eaLnBrk="1" hangingPunct="1"/>
            <a:r>
              <a:rPr lang="zh-CN" altLang="en-US" dirty="0"/>
              <a:t>1</a:t>
            </a:r>
            <a:r>
              <a:rPr lang="en-US" altLang="zh-CN" dirty="0"/>
              <a:t>1</a:t>
            </a:r>
            <a:r>
              <a:rPr lang="zh-CN" altLang="en-US" dirty="0"/>
              <a:t>、数据库编程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0570" y="1561465"/>
            <a:ext cx="8442960" cy="3471545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dirty="0"/>
              <a:t>架构：</a:t>
            </a:r>
            <a:r>
              <a:rPr lang="en-US" altLang="zh-CN" dirty="0"/>
              <a:t>C/S</a:t>
            </a:r>
            <a:r>
              <a:rPr lang="zh-CN" altLang="en-US" dirty="0"/>
              <a:t>模型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zh-CN" altLang="en-US" dirty="0">
                <a:sym typeface="+mn-ea"/>
              </a:rPr>
              <a:t>网址：https://www.mysql.com/</a:t>
            </a:r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en-US" altLang="zh-CN" dirty="0">
                <a:sym typeface="+mn-ea"/>
              </a:rPr>
              <a:t>API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/>
        </p:nvSpPr>
        <p:spPr>
          <a:xfrm>
            <a:off x="750570" y="333375"/>
            <a:ext cx="8442960" cy="8826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/>
              <a:t>C</a:t>
            </a:r>
            <a:r>
              <a:rPr lang="zh-CN" altLang="en-US" dirty="0"/>
              <a:t>语言常用</a:t>
            </a:r>
            <a:r>
              <a:rPr lang="en-US" altLang="zh-CN" dirty="0"/>
              <a:t>API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205" y="1426210"/>
            <a:ext cx="7743190" cy="47472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9" name="Picture 5" descr="PPT-5-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4308" y="2733676"/>
            <a:ext cx="2578387" cy="79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6" descr="PPT-5-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51117" y="2476501"/>
            <a:ext cx="3721289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7" descr="PPT-5-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" y="6454776"/>
            <a:ext cx="10030107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844114" y="6482191"/>
            <a:ext cx="5367139" cy="344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lnSpc>
                <a:spcPct val="110000"/>
              </a:lnSpc>
              <a:defRPr/>
            </a:pPr>
            <a:r>
              <a:rPr lang="zh-CN" altLang="en-US" sz="16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王道码农训练营</a:t>
            </a:r>
            <a:r>
              <a:rPr lang="en-US" altLang="zh-CN" sz="16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-WWW.CSKAOYAN.COM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</TotalTime>
  <Words>1883</Words>
  <Application>Microsoft Office PowerPoint</Application>
  <PresentationFormat>自定义</PresentationFormat>
  <Paragraphs>172</Paragraphs>
  <Slides>22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楷体_GB2312</vt:lpstr>
      <vt:lpstr>微软雅黑</vt:lpstr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包装程序外壳对象</vt:lpstr>
      <vt:lpstr>Package</vt:lpstr>
      <vt:lpstr>PowerPoint 演示文稿</vt:lpstr>
      <vt:lpstr>PowerPoint 演示文稿</vt:lpstr>
      <vt:lpstr>9、DQL数据查询语言</vt:lpstr>
      <vt:lpstr>连接查询</vt:lpstr>
      <vt:lpstr>交叉连接查询</vt:lpstr>
      <vt:lpstr>内连接查询</vt:lpstr>
      <vt:lpstr>左外连接查询</vt:lpstr>
      <vt:lpstr>右外连接查询</vt:lpstr>
      <vt:lpstr>PowerPoint 演示文稿</vt:lpstr>
      <vt:lpstr>子查询</vt:lpstr>
      <vt:lpstr>联合查询</vt:lpstr>
      <vt:lpstr>报表查询</vt:lpstr>
      <vt:lpstr>常用统计函数</vt:lpstr>
      <vt:lpstr>合计函数－count</vt:lpstr>
      <vt:lpstr>合计函数－SUM</vt:lpstr>
      <vt:lpstr>合计函数－AVG</vt:lpstr>
      <vt:lpstr>合计函数－MAX/MIN</vt:lpstr>
      <vt:lpstr>Select语句(6)</vt:lpstr>
      <vt:lpstr>10、数据的备份与恢复</vt:lpstr>
      <vt:lpstr>11、数据库编程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zuazua W</dc:creator>
  <cp:lastModifiedBy>冷 布丁</cp:lastModifiedBy>
  <cp:revision>139</cp:revision>
  <dcterms:created xsi:type="dcterms:W3CDTF">2012-09-21T09:29:00Z</dcterms:created>
  <dcterms:modified xsi:type="dcterms:W3CDTF">2022-05-05T12:21:25Z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2C0C4A16632641AB98A28E613774C399</vt:lpwstr>
  </property>
</Properties>
</file>